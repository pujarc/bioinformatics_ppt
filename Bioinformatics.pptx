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</p:sldIdLst>
  <p:sldSz cx="18288000" cy="10287000"/>
  <p:notesSz cx="6858000" cy="9144000"/>
  <p:embeddedFontLst>
    <p:embeddedFont>
      <p:font typeface="League Gothic" charset="1" panose="00000500000000000000"/>
      <p:regular r:id="rId6"/>
    </p:embeddedFont>
    <p:embeddedFont>
      <p:font typeface="League Gothic Italics" charset="1" panose="00000500000000000000"/>
      <p:regular r:id="rId7"/>
    </p:embeddedFont>
    <p:embeddedFont>
      <p:font typeface="Arimo" charset="1" panose="020B0604020202020204"/>
      <p:regular r:id="rId8"/>
    </p:embeddedFont>
    <p:embeddedFont>
      <p:font typeface="Arimo Bold" charset="1" panose="020B0704020202020204"/>
      <p:regular r:id="rId9"/>
    </p:embeddedFont>
    <p:embeddedFont>
      <p:font typeface="Arimo Italics" charset="1" panose="020B0604020202090204"/>
      <p:regular r:id="rId10"/>
    </p:embeddedFont>
    <p:embeddedFont>
      <p:font typeface="Arimo Bold Italics" charset="1" panose="020B0704020202090204"/>
      <p:regular r:id="rId11"/>
    </p:embeddedFont>
    <p:embeddedFont>
      <p:font typeface="Open Sans Light" charset="1" panose="020B0306030504020204"/>
      <p:regular r:id="rId12"/>
    </p:embeddedFont>
    <p:embeddedFont>
      <p:font typeface="Open Sans Light Bold" charset="1" panose="020B0806030504020204"/>
      <p:regular r:id="rId13"/>
    </p:embeddedFont>
    <p:embeddedFont>
      <p:font typeface="Open Sans Light Italics" charset="1" panose="020B0306030504020204"/>
      <p:regular r:id="rId14"/>
    </p:embeddedFont>
    <p:embeddedFont>
      <p:font typeface="Open Sans Light Bold Italics" charset="1" panose="020B0806030504020204"/>
      <p:regular r:id="rId15"/>
    </p:embeddedFont>
    <p:embeddedFont>
      <p:font typeface="Space Mono" charset="1" panose="02000509040000020004"/>
      <p:regular r:id="rId16"/>
    </p:embeddedFont>
    <p:embeddedFont>
      <p:font typeface="Space Mono Bold" charset="1" panose="02000809030000020004"/>
      <p:regular r:id="rId17"/>
    </p:embeddedFont>
    <p:embeddedFont>
      <p:font typeface="Space Mono Italics" charset="1" panose="02000509090000090004"/>
      <p:regular r:id="rId18"/>
    </p:embeddedFont>
    <p:embeddedFont>
      <p:font typeface="Space Mono Bold Italics" charset="1" panose="02000809040000090004"/>
      <p:regular r:id="rId19"/>
    </p:embeddedFont>
    <p:embeddedFont>
      <p:font typeface="Now" charset="1" panose="00000500000000000000"/>
      <p:regular r:id="rId20"/>
    </p:embeddedFont>
    <p:embeddedFont>
      <p:font typeface="Now Bold" charset="1" panose="00000600000000000000"/>
      <p:regular r:id="rId21"/>
    </p:embeddedFont>
    <p:embeddedFont>
      <p:font typeface="Now Bold" charset="1" panose="00000800000000000000"/>
      <p:regular r:id="rId22"/>
    </p:embeddedFont>
    <p:embeddedFont>
      <p:font typeface="Now Bold Bold" charset="1" panose="00000A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slides/slide1.xml" Type="http://schemas.openxmlformats.org/officeDocument/2006/relationships/slide"/><Relationship Id="rId25" Target="slides/slide2.xml" Type="http://schemas.openxmlformats.org/officeDocument/2006/relationships/slide"/><Relationship Id="rId26" Target="slides/slide3.xml" Type="http://schemas.openxmlformats.org/officeDocument/2006/relationships/slide"/><Relationship Id="rId27" Target="slides/slide4.xml" Type="http://schemas.openxmlformats.org/officeDocument/2006/relationships/slide"/><Relationship Id="rId28" Target="slides/slide5.xml" Type="http://schemas.openxmlformats.org/officeDocument/2006/relationships/slide"/><Relationship Id="rId29" Target="slides/slide6.xml" Type="http://schemas.openxmlformats.org/officeDocument/2006/relationships/slide"/><Relationship Id="rId3" Target="viewProps.xml" Type="http://schemas.openxmlformats.org/officeDocument/2006/relationships/viewProps"/><Relationship Id="rId30" Target="slides/slide7.xml" Type="http://schemas.openxmlformats.org/officeDocument/2006/relationships/slide"/><Relationship Id="rId31" Target="slides/slide8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77349" y="1028700"/>
            <a:ext cx="12881951" cy="8229600"/>
            <a:chOff x="0" y="0"/>
            <a:chExt cx="26263731" cy="16778514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26263730" cy="16778514"/>
            </a:xfrm>
            <a:custGeom>
              <a:avLst/>
              <a:gdLst/>
              <a:ahLst/>
              <a:cxnLst/>
              <a:rect r="r" b="b" t="t" l="l"/>
              <a:pathLst>
                <a:path h="16778514" w="26263730">
                  <a:moveTo>
                    <a:pt x="0" y="0"/>
                  </a:moveTo>
                  <a:lnTo>
                    <a:pt x="0" y="16778514"/>
                  </a:lnTo>
                  <a:lnTo>
                    <a:pt x="26263730" y="16778514"/>
                  </a:lnTo>
                  <a:lnTo>
                    <a:pt x="26263730" y="0"/>
                  </a:lnTo>
                  <a:lnTo>
                    <a:pt x="0" y="0"/>
                  </a:lnTo>
                  <a:close/>
                  <a:moveTo>
                    <a:pt x="26202770" y="16717555"/>
                  </a:moveTo>
                  <a:lnTo>
                    <a:pt x="59690" y="16717555"/>
                  </a:lnTo>
                  <a:lnTo>
                    <a:pt x="59690" y="59690"/>
                  </a:lnTo>
                  <a:lnTo>
                    <a:pt x="26202770" y="59690"/>
                  </a:lnTo>
                  <a:lnTo>
                    <a:pt x="26202770" y="16717555"/>
                  </a:lnTo>
                  <a:close/>
                </a:path>
              </a:pathLst>
            </a:custGeom>
            <a:solidFill>
              <a:srgbClr val="2B382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940423" y="1307112"/>
            <a:ext cx="3509377" cy="928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B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I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O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I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N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F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O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R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M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A</a:t>
            </a:r>
            <a:r>
              <a:rPr lang="en-US" sz="4251" spc="684">
                <a:solidFill>
                  <a:srgbClr val="737373"/>
                </a:solidFill>
                <a:latin typeface="League Gothic Bold"/>
              </a:rPr>
              <a:t>N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T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I</a:t>
            </a:r>
            <a:r>
              <a:rPr lang="en-US" sz="4251" spc="684">
                <a:solidFill>
                  <a:srgbClr val="707070"/>
                </a:solidFill>
                <a:latin typeface="League Gothic Bold"/>
              </a:rPr>
              <a:t>NTRODUCTION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C</a:t>
            </a:r>
          </a:p>
          <a:p>
            <a:pPr>
              <a:lnSpc>
                <a:spcPts val="4378"/>
              </a:lnSpc>
            </a:pPr>
            <a:r>
              <a:rPr lang="en-US" sz="4251" spc="684">
                <a:solidFill>
                  <a:srgbClr val="000000"/>
                </a:solidFill>
                <a:latin typeface="League Gothic Bold"/>
              </a:rPr>
              <a:t>S</a:t>
            </a:r>
          </a:p>
          <a:p>
            <a:pPr algn="l">
              <a:lnSpc>
                <a:spcPts val="1107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55432" y="530193"/>
            <a:ext cx="3788814" cy="931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768"/>
              </a:lnSpc>
            </a:pPr>
            <a:r>
              <a:rPr lang="en-US" sz="5600" spc="901">
                <a:solidFill>
                  <a:srgbClr val="999999"/>
                </a:solidFill>
                <a:latin typeface="League Gothic Bold"/>
              </a:rPr>
              <a:t>BY SO MANY SIGNIFICANT  OTHERS</a:t>
            </a:r>
          </a:p>
          <a:p>
            <a:pPr>
              <a:lnSpc>
                <a:spcPts val="5768"/>
              </a:lnSpc>
            </a:pPr>
          </a:p>
          <a:p>
            <a:pPr>
              <a:lnSpc>
                <a:spcPts val="5768"/>
              </a:lnSpc>
            </a:pPr>
          </a:p>
          <a:p>
            <a:pPr>
              <a:lnSpc>
                <a:spcPts val="5768"/>
              </a:lnSpc>
            </a:pPr>
          </a:p>
          <a:p>
            <a:pPr>
              <a:lnSpc>
                <a:spcPts val="5768"/>
              </a:lnSpc>
            </a:pPr>
          </a:p>
          <a:p>
            <a:pPr>
              <a:lnSpc>
                <a:spcPts val="5768"/>
              </a:lnSpc>
            </a:pPr>
          </a:p>
          <a:p>
            <a:pPr>
              <a:lnSpc>
                <a:spcPts val="5768"/>
              </a:lnSpc>
            </a:pPr>
          </a:p>
          <a:p>
            <a:pPr>
              <a:lnSpc>
                <a:spcPts val="5768"/>
              </a:lnSpc>
            </a:pPr>
          </a:p>
          <a:p>
            <a:pPr>
              <a:lnSpc>
                <a:spcPts val="5768"/>
              </a:lnSpc>
            </a:pPr>
          </a:p>
          <a:p>
            <a:pPr>
              <a:lnSpc>
                <a:spcPts val="4841"/>
              </a:lnSpc>
            </a:pPr>
          </a:p>
          <a:p>
            <a:pPr algn="l">
              <a:lnSpc>
                <a:spcPts val="4841"/>
              </a:lnSpc>
            </a:pPr>
            <a:r>
              <a:rPr lang="en-US" sz="4700" spc="756">
                <a:solidFill>
                  <a:srgbClr val="999999"/>
                </a:solidFill>
                <a:latin typeface="League Gothic Bold"/>
              </a:rPr>
              <a:t>AND ME.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33090958" cy="16778514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3090957" cy="16778514"/>
            </a:xfrm>
            <a:custGeom>
              <a:avLst/>
              <a:gdLst/>
              <a:ahLst/>
              <a:cxnLst/>
              <a:rect r="r" b="b" t="t" l="l"/>
              <a:pathLst>
                <a:path h="16778514" w="33090957">
                  <a:moveTo>
                    <a:pt x="0" y="0"/>
                  </a:moveTo>
                  <a:lnTo>
                    <a:pt x="0" y="16778514"/>
                  </a:lnTo>
                  <a:lnTo>
                    <a:pt x="33090957" y="16778514"/>
                  </a:lnTo>
                  <a:lnTo>
                    <a:pt x="33090957" y="0"/>
                  </a:lnTo>
                  <a:lnTo>
                    <a:pt x="0" y="0"/>
                  </a:lnTo>
                  <a:close/>
                  <a:moveTo>
                    <a:pt x="33029999" y="16717555"/>
                  </a:moveTo>
                  <a:lnTo>
                    <a:pt x="59690" y="16717555"/>
                  </a:lnTo>
                  <a:lnTo>
                    <a:pt x="59690" y="59690"/>
                  </a:lnTo>
                  <a:lnTo>
                    <a:pt x="33029999" y="59690"/>
                  </a:lnTo>
                  <a:lnTo>
                    <a:pt x="33029999" y="16717555"/>
                  </a:lnTo>
                  <a:close/>
                </a:path>
              </a:pathLst>
            </a:custGeom>
            <a:solidFill>
              <a:srgbClr val="241D2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2367294"/>
            <a:chOff x="0" y="0"/>
            <a:chExt cx="33090958" cy="482644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33090957" cy="4826440"/>
            </a:xfrm>
            <a:custGeom>
              <a:avLst/>
              <a:gdLst/>
              <a:ahLst/>
              <a:cxnLst/>
              <a:rect r="r" b="b" t="t" l="l"/>
              <a:pathLst>
                <a:path h="4826440" w="33090957">
                  <a:moveTo>
                    <a:pt x="0" y="0"/>
                  </a:moveTo>
                  <a:lnTo>
                    <a:pt x="0" y="4826440"/>
                  </a:lnTo>
                  <a:lnTo>
                    <a:pt x="33090957" y="4826440"/>
                  </a:lnTo>
                  <a:lnTo>
                    <a:pt x="33090957" y="0"/>
                  </a:lnTo>
                  <a:lnTo>
                    <a:pt x="0" y="0"/>
                  </a:lnTo>
                  <a:close/>
                  <a:moveTo>
                    <a:pt x="33029999" y="4765480"/>
                  </a:moveTo>
                  <a:lnTo>
                    <a:pt x="59690" y="4765480"/>
                  </a:lnTo>
                  <a:lnTo>
                    <a:pt x="59690" y="59690"/>
                  </a:lnTo>
                  <a:lnTo>
                    <a:pt x="33029999" y="59690"/>
                  </a:lnTo>
                  <a:lnTo>
                    <a:pt x="33029999" y="4765480"/>
                  </a:lnTo>
                  <a:close/>
                </a:path>
              </a:pathLst>
            </a:custGeom>
            <a:solidFill>
              <a:srgbClr val="241D2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90650" y="1640847"/>
            <a:ext cx="1300749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000"/>
              </a:lnSpc>
            </a:pPr>
            <a:r>
              <a:rPr lang="en-US" sz="7500" spc="225">
                <a:solidFill>
                  <a:srgbClr val="241D27"/>
                </a:solidFill>
                <a:latin typeface="Space Mono Bold"/>
              </a:rPr>
              <a:t>Presentation Overview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15177151" y="1028700"/>
            <a:ext cx="2082149" cy="2367294"/>
          </a:xfrm>
          <a:prstGeom prst="rect">
            <a:avLst/>
          </a:prstGeom>
          <a:solidFill>
            <a:srgbClr val="241D27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15717706" y="1902784"/>
            <a:ext cx="10010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spc="400">
                <a:solidFill>
                  <a:srgbClr val="FFFFFF"/>
                </a:solidFill>
                <a:latin typeface="Space Mono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373134"/>
            <a:ext cx="1873746" cy="5885166"/>
            <a:chOff x="0" y="0"/>
            <a:chExt cx="3820194" cy="11998681"/>
          </a:xfrm>
        </p:grpSpPr>
        <p:sp>
          <p:nvSpPr>
            <p:cNvPr name="Freeform 10" id="10"/>
            <p:cNvSpPr/>
            <p:nvPr/>
          </p:nvSpPr>
          <p:spPr>
            <a:xfrm>
              <a:off x="0" y="0"/>
              <a:ext cx="3820194" cy="11998681"/>
            </a:xfrm>
            <a:custGeom>
              <a:avLst/>
              <a:gdLst/>
              <a:ahLst/>
              <a:cxnLst/>
              <a:rect r="r" b="b" t="t" l="l"/>
              <a:pathLst>
                <a:path h="11998681" w="3820194">
                  <a:moveTo>
                    <a:pt x="0" y="0"/>
                  </a:moveTo>
                  <a:lnTo>
                    <a:pt x="0" y="11998681"/>
                  </a:lnTo>
                  <a:lnTo>
                    <a:pt x="3820194" y="11998681"/>
                  </a:lnTo>
                  <a:lnTo>
                    <a:pt x="3820194" y="0"/>
                  </a:lnTo>
                  <a:lnTo>
                    <a:pt x="0" y="0"/>
                  </a:lnTo>
                  <a:close/>
                  <a:moveTo>
                    <a:pt x="3759234" y="11937721"/>
                  </a:moveTo>
                  <a:lnTo>
                    <a:pt x="59690" y="11937721"/>
                  </a:lnTo>
                  <a:lnTo>
                    <a:pt x="59690" y="59690"/>
                  </a:lnTo>
                  <a:lnTo>
                    <a:pt x="3759234" y="59690"/>
                  </a:lnTo>
                  <a:lnTo>
                    <a:pt x="3759234" y="11937721"/>
                  </a:lnTo>
                  <a:close/>
                </a:path>
              </a:pathLst>
            </a:custGeom>
            <a:solidFill>
              <a:srgbClr val="241D27"/>
            </a:solidFill>
          </p:spPr>
        </p:sp>
      </p:grpSp>
      <p:sp>
        <p:nvSpPr>
          <p:cNvPr name="AutoShape 11" id="11"/>
          <p:cNvSpPr/>
          <p:nvPr/>
        </p:nvSpPr>
        <p:spPr>
          <a:xfrm rot="0">
            <a:off x="1028700" y="3395994"/>
            <a:ext cx="1873746" cy="5862306"/>
          </a:xfrm>
          <a:prstGeom prst="rect">
            <a:avLst/>
          </a:prstGeom>
          <a:solidFill>
            <a:srgbClr val="241D27">
              <a:alpha val="9804"/>
            </a:srgbClr>
          </a:solidFill>
        </p:spPr>
      </p:sp>
      <p:sp>
        <p:nvSpPr>
          <p:cNvPr name="TextBox 12" id="12"/>
          <p:cNvSpPr txBox="true"/>
          <p:nvPr/>
        </p:nvSpPr>
        <p:spPr>
          <a:xfrm rot="5400000">
            <a:off x="-282365" y="5978841"/>
            <a:ext cx="449587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560"/>
              </a:lnSpc>
            </a:pPr>
            <a:r>
              <a:rPr lang="en-US" sz="3800" spc="380">
                <a:solidFill>
                  <a:srgbClr val="241D27"/>
                </a:solidFill>
                <a:latin typeface="Space Mono Bold"/>
              </a:rPr>
              <a:t>KEY TOPICS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48089" y="3921404"/>
            <a:ext cx="10189075" cy="455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spc="30">
                <a:solidFill>
                  <a:srgbClr val="241D27"/>
                </a:solidFill>
                <a:latin typeface="Space Mono"/>
              </a:rPr>
              <a:t>Biological data </a:t>
            </a:r>
          </a:p>
          <a:p>
            <a:pPr>
              <a:lnSpc>
                <a:spcPts val="4500"/>
              </a:lnSpc>
            </a:pPr>
            <a:r>
              <a:rPr lang="en-US" sz="3000" spc="30">
                <a:solidFill>
                  <a:srgbClr val="241D27"/>
                </a:solidFill>
                <a:latin typeface="Space Mono Italics"/>
              </a:rPr>
              <a:t>in vivo</a:t>
            </a:r>
            <a:r>
              <a:rPr lang="en-US" sz="3000" spc="30">
                <a:solidFill>
                  <a:srgbClr val="241D27"/>
                </a:solidFill>
                <a:latin typeface="Space Mono"/>
              </a:rPr>
              <a:t>, </a:t>
            </a:r>
            <a:r>
              <a:rPr lang="en-US" sz="3000" spc="30">
                <a:solidFill>
                  <a:srgbClr val="241D27"/>
                </a:solidFill>
                <a:latin typeface="Space Mono Italics"/>
              </a:rPr>
              <a:t>in vitro</a:t>
            </a:r>
            <a:r>
              <a:rPr lang="en-US" sz="3000" spc="30">
                <a:solidFill>
                  <a:srgbClr val="241D27"/>
                </a:solidFill>
                <a:latin typeface="Space Mono"/>
              </a:rPr>
              <a:t>,</a:t>
            </a:r>
            <a:r>
              <a:rPr lang="en-US" sz="3000" spc="30">
                <a:solidFill>
                  <a:srgbClr val="241D27"/>
                </a:solidFill>
                <a:latin typeface="Space Mono"/>
              </a:rPr>
              <a:t> and </a:t>
            </a:r>
            <a:r>
              <a:rPr lang="en-US" sz="3000" spc="30">
                <a:solidFill>
                  <a:srgbClr val="241D27"/>
                </a:solidFill>
                <a:latin typeface="Space Mono Italics"/>
              </a:rPr>
              <a:t>in silico</a:t>
            </a:r>
            <a:r>
              <a:rPr lang="en-US" sz="3000" spc="30">
                <a:solidFill>
                  <a:srgbClr val="241D27"/>
                </a:solidFill>
                <a:latin typeface="Space Mono"/>
              </a:rPr>
              <a:t> processes</a:t>
            </a:r>
          </a:p>
          <a:p>
            <a:pPr>
              <a:lnSpc>
                <a:spcPts val="4500"/>
              </a:lnSpc>
            </a:pPr>
            <a:r>
              <a:rPr lang="en-US" sz="3000" spc="30">
                <a:solidFill>
                  <a:srgbClr val="241D27"/>
                </a:solidFill>
                <a:latin typeface="Space Mono"/>
              </a:rPr>
              <a:t>What can bioinformatics do for you?</a:t>
            </a:r>
          </a:p>
          <a:p>
            <a:pPr>
              <a:lnSpc>
                <a:spcPts val="4500"/>
              </a:lnSpc>
            </a:pPr>
            <a:r>
              <a:rPr lang="en-US" sz="3000" spc="30">
                <a:solidFill>
                  <a:srgbClr val="241D27"/>
                </a:solidFill>
                <a:latin typeface="Space Mono"/>
              </a:rPr>
              <a:t>Integration of various subjects in this realm</a:t>
            </a:r>
          </a:p>
          <a:p>
            <a:pPr>
              <a:lnSpc>
                <a:spcPts val="4500"/>
              </a:lnSpc>
            </a:pPr>
            <a:r>
              <a:rPr lang="en-US" sz="3000" spc="30">
                <a:solidFill>
                  <a:srgbClr val="241D27"/>
                </a:solidFill>
                <a:latin typeface="Space Mono"/>
              </a:rPr>
              <a:t>Data stored in various databases and its types </a:t>
            </a:r>
          </a:p>
          <a:p>
            <a:pPr>
              <a:lnSpc>
                <a:spcPts val="4500"/>
              </a:lnSpc>
            </a:pPr>
            <a:r>
              <a:rPr lang="en-US" sz="3000" spc="30">
                <a:solidFill>
                  <a:srgbClr val="241D27"/>
                </a:solidFill>
                <a:latin typeface="Space Mono"/>
              </a:rPr>
              <a:t>Some examples of databases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33090958" cy="16778514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3090957" cy="16778514"/>
            </a:xfrm>
            <a:custGeom>
              <a:avLst/>
              <a:gdLst/>
              <a:ahLst/>
              <a:cxnLst/>
              <a:rect r="r" b="b" t="t" l="l"/>
              <a:pathLst>
                <a:path h="16778514" w="33090957">
                  <a:moveTo>
                    <a:pt x="0" y="0"/>
                  </a:moveTo>
                  <a:lnTo>
                    <a:pt x="0" y="16778514"/>
                  </a:lnTo>
                  <a:lnTo>
                    <a:pt x="33090957" y="16778514"/>
                  </a:lnTo>
                  <a:lnTo>
                    <a:pt x="33090957" y="0"/>
                  </a:lnTo>
                  <a:lnTo>
                    <a:pt x="0" y="0"/>
                  </a:lnTo>
                  <a:close/>
                  <a:moveTo>
                    <a:pt x="33029999" y="16717555"/>
                  </a:moveTo>
                  <a:lnTo>
                    <a:pt x="59690" y="16717555"/>
                  </a:lnTo>
                  <a:lnTo>
                    <a:pt x="59690" y="59690"/>
                  </a:lnTo>
                  <a:lnTo>
                    <a:pt x="33029999" y="59690"/>
                  </a:lnTo>
                  <a:lnTo>
                    <a:pt x="33029999" y="16717555"/>
                  </a:lnTo>
                  <a:close/>
                </a:path>
              </a:pathLst>
            </a:custGeom>
            <a:solidFill>
              <a:srgbClr val="241D2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6884" y="1028700"/>
            <a:ext cx="16230600" cy="2367294"/>
            <a:chOff x="0" y="0"/>
            <a:chExt cx="33090958" cy="482644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33090957" cy="4826440"/>
            </a:xfrm>
            <a:custGeom>
              <a:avLst/>
              <a:gdLst/>
              <a:ahLst/>
              <a:cxnLst/>
              <a:rect r="r" b="b" t="t" l="l"/>
              <a:pathLst>
                <a:path h="4826440" w="33090957">
                  <a:moveTo>
                    <a:pt x="0" y="0"/>
                  </a:moveTo>
                  <a:lnTo>
                    <a:pt x="0" y="4826440"/>
                  </a:lnTo>
                  <a:lnTo>
                    <a:pt x="33090957" y="4826440"/>
                  </a:lnTo>
                  <a:lnTo>
                    <a:pt x="33090957" y="0"/>
                  </a:lnTo>
                  <a:lnTo>
                    <a:pt x="0" y="0"/>
                  </a:lnTo>
                  <a:close/>
                  <a:moveTo>
                    <a:pt x="33029999" y="4765480"/>
                  </a:moveTo>
                  <a:lnTo>
                    <a:pt x="59690" y="4765480"/>
                  </a:lnTo>
                  <a:lnTo>
                    <a:pt x="59690" y="59690"/>
                  </a:lnTo>
                  <a:lnTo>
                    <a:pt x="33029999" y="59690"/>
                  </a:lnTo>
                  <a:lnTo>
                    <a:pt x="33029999" y="4765480"/>
                  </a:lnTo>
                  <a:close/>
                </a:path>
              </a:pathLst>
            </a:custGeom>
            <a:solidFill>
              <a:srgbClr val="241D27"/>
            </a:solidFill>
          </p:spPr>
        </p:sp>
      </p:grpSp>
      <p:sp>
        <p:nvSpPr>
          <p:cNvPr name="AutoShape 6" id="6"/>
          <p:cNvSpPr/>
          <p:nvPr/>
        </p:nvSpPr>
        <p:spPr>
          <a:xfrm rot="0">
            <a:off x="15177151" y="1028700"/>
            <a:ext cx="2082149" cy="2367294"/>
          </a:xfrm>
          <a:prstGeom prst="rect">
            <a:avLst/>
          </a:prstGeom>
          <a:solidFill>
            <a:srgbClr val="241D27"/>
          </a:solid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243" t="0" r="243" b="0"/>
          <a:stretch>
            <a:fillRect/>
          </a:stretch>
        </p:blipFill>
        <p:spPr>
          <a:xfrm flipH="false" flipV="false" rot="0">
            <a:off x="1090122" y="3395994"/>
            <a:ext cx="9196484" cy="5783321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717706" y="1902784"/>
            <a:ext cx="10010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spc="400">
                <a:solidFill>
                  <a:srgbClr val="FFFFFF"/>
                </a:solidFill>
                <a:latin typeface="Space Mono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75112" y="4269685"/>
            <a:ext cx="6084188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560"/>
              </a:lnSpc>
            </a:pPr>
            <a:r>
              <a:rPr lang="en-US" sz="3800" spc="380">
                <a:solidFill>
                  <a:srgbClr val="241D27"/>
                </a:solidFill>
                <a:latin typeface="Space Mono Bold"/>
              </a:rPr>
              <a:t>WHAT IS BIOLOGICAL DATA?</a:t>
            </a:r>
          </a:p>
          <a:p>
            <a:pPr>
              <a:lnSpc>
                <a:spcPts val="4560"/>
              </a:lnSpc>
            </a:pPr>
          </a:p>
          <a:p>
            <a:pPr>
              <a:lnSpc>
                <a:spcPts val="4560"/>
              </a:lnSpc>
            </a:pPr>
            <a:r>
              <a:rPr lang="en-US" sz="3800" spc="380">
                <a:solidFill>
                  <a:srgbClr val="241D27"/>
                </a:solidFill>
                <a:latin typeface="Space Mono Bold"/>
              </a:rPr>
              <a:t>HOW DO WE OBTAIN BIOLOGICAL DATA?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6534" y="1355097"/>
            <a:ext cx="1049178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0000"/>
                </a:solidFill>
                <a:latin typeface="Space Mono Bold"/>
              </a:rPr>
              <a:t>Biological 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0565583" cy="8229600"/>
            <a:chOff x="0" y="0"/>
            <a:chExt cx="21541118" cy="16778514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21541118" cy="16778514"/>
            </a:xfrm>
            <a:custGeom>
              <a:avLst/>
              <a:gdLst/>
              <a:ahLst/>
              <a:cxnLst/>
              <a:rect r="r" b="b" t="t" l="l"/>
              <a:pathLst>
                <a:path h="16778514" w="21541118">
                  <a:moveTo>
                    <a:pt x="0" y="0"/>
                  </a:moveTo>
                  <a:lnTo>
                    <a:pt x="0" y="16778514"/>
                  </a:lnTo>
                  <a:lnTo>
                    <a:pt x="21541118" y="16778514"/>
                  </a:lnTo>
                  <a:lnTo>
                    <a:pt x="21541118" y="0"/>
                  </a:lnTo>
                  <a:lnTo>
                    <a:pt x="0" y="0"/>
                  </a:lnTo>
                  <a:close/>
                  <a:moveTo>
                    <a:pt x="21480157" y="16717555"/>
                  </a:moveTo>
                  <a:lnTo>
                    <a:pt x="59690" y="16717555"/>
                  </a:lnTo>
                  <a:lnTo>
                    <a:pt x="59690" y="59690"/>
                  </a:lnTo>
                  <a:lnTo>
                    <a:pt x="21480157" y="59690"/>
                  </a:lnTo>
                  <a:lnTo>
                    <a:pt x="21480157" y="16717555"/>
                  </a:lnTo>
                  <a:close/>
                </a:path>
              </a:pathLst>
            </a:custGeom>
            <a:solidFill>
              <a:srgbClr val="241D27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1028700" y="3395994"/>
            <a:ext cx="2082149" cy="5862306"/>
          </a:xfrm>
          <a:prstGeom prst="rect">
            <a:avLst/>
          </a:prstGeom>
          <a:solidFill>
            <a:srgbClr val="241D27">
              <a:alpha val="9804"/>
            </a:srgbClr>
          </a:solid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2082149" cy="8229600"/>
            <a:chOff x="0" y="0"/>
            <a:chExt cx="4245087" cy="16778514"/>
          </a:xfrm>
        </p:grpSpPr>
        <p:sp>
          <p:nvSpPr>
            <p:cNvPr name="Freeform 6" id="6"/>
            <p:cNvSpPr/>
            <p:nvPr/>
          </p:nvSpPr>
          <p:spPr>
            <a:xfrm>
              <a:off x="0" y="0"/>
              <a:ext cx="4245087" cy="16778514"/>
            </a:xfrm>
            <a:custGeom>
              <a:avLst/>
              <a:gdLst/>
              <a:ahLst/>
              <a:cxnLst/>
              <a:rect r="r" b="b" t="t" l="l"/>
              <a:pathLst>
                <a:path h="16778514" w="4245087">
                  <a:moveTo>
                    <a:pt x="0" y="0"/>
                  </a:moveTo>
                  <a:lnTo>
                    <a:pt x="0" y="16778514"/>
                  </a:lnTo>
                  <a:lnTo>
                    <a:pt x="4245087" y="16778514"/>
                  </a:lnTo>
                  <a:lnTo>
                    <a:pt x="4245087" y="0"/>
                  </a:lnTo>
                  <a:lnTo>
                    <a:pt x="0" y="0"/>
                  </a:lnTo>
                  <a:close/>
                  <a:moveTo>
                    <a:pt x="4184127" y="16717555"/>
                  </a:moveTo>
                  <a:lnTo>
                    <a:pt x="59690" y="16717555"/>
                  </a:lnTo>
                  <a:lnTo>
                    <a:pt x="59690" y="59690"/>
                  </a:lnTo>
                  <a:lnTo>
                    <a:pt x="4184127" y="59690"/>
                  </a:lnTo>
                  <a:lnTo>
                    <a:pt x="4184127" y="16717555"/>
                  </a:lnTo>
                  <a:close/>
                </a:path>
              </a:pathLst>
            </a:custGeom>
            <a:solidFill>
              <a:srgbClr val="241D27"/>
            </a:solidFill>
          </p:spPr>
        </p:sp>
      </p:grpSp>
      <p:sp>
        <p:nvSpPr>
          <p:cNvPr name="AutoShape 7" id="7"/>
          <p:cNvSpPr/>
          <p:nvPr/>
        </p:nvSpPr>
        <p:spPr>
          <a:xfrm rot="0">
            <a:off x="1028700" y="1028700"/>
            <a:ext cx="2082149" cy="2367294"/>
          </a:xfrm>
          <a:prstGeom prst="rect">
            <a:avLst/>
          </a:prstGeom>
          <a:solidFill>
            <a:srgbClr val="241D27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3304375" y="1108296"/>
            <a:ext cx="6704953" cy="614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068"/>
              </a:lnSpc>
            </a:pPr>
            <a:r>
              <a:rPr lang="en-US" sz="4334">
                <a:solidFill>
                  <a:srgbClr val="000000"/>
                </a:solidFill>
                <a:latin typeface="Open Sans Light"/>
              </a:rPr>
              <a:t>in vivo: inside the organism.</a:t>
            </a:r>
          </a:p>
          <a:p>
            <a:pPr algn="ctr">
              <a:lnSpc>
                <a:spcPts val="6068"/>
              </a:lnSpc>
            </a:pPr>
          </a:p>
          <a:p>
            <a:pPr>
              <a:lnSpc>
                <a:spcPts val="6068"/>
              </a:lnSpc>
            </a:pPr>
            <a:r>
              <a:rPr lang="en-US" sz="4334">
                <a:solidFill>
                  <a:srgbClr val="000000"/>
                </a:solidFill>
                <a:latin typeface="Open Sans Light"/>
              </a:rPr>
              <a:t>in vitro: in a false environment, mimicking the original.</a:t>
            </a:r>
          </a:p>
          <a:p>
            <a:pPr>
              <a:lnSpc>
                <a:spcPts val="6068"/>
              </a:lnSpc>
            </a:pPr>
          </a:p>
          <a:p>
            <a:pPr>
              <a:lnSpc>
                <a:spcPts val="6068"/>
              </a:lnSpc>
            </a:pPr>
            <a:r>
              <a:rPr lang="en-US" sz="4334">
                <a:solidFill>
                  <a:srgbClr val="000000"/>
                </a:solidFill>
                <a:latin typeface="Open Sans Light"/>
              </a:rPr>
              <a:t>in silico: inside a computer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064491" y="2512384"/>
            <a:ext cx="5349824" cy="495354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569255" y="1902784"/>
            <a:ext cx="10010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spc="400">
                <a:solidFill>
                  <a:srgbClr val="FFFFFF"/>
                </a:solidFill>
                <a:latin typeface="Space Mono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1D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33090958" cy="16778514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3090957" cy="16778514"/>
            </a:xfrm>
            <a:custGeom>
              <a:avLst/>
              <a:gdLst/>
              <a:ahLst/>
              <a:cxnLst/>
              <a:rect r="r" b="b" t="t" l="l"/>
              <a:pathLst>
                <a:path h="16778514" w="33090957">
                  <a:moveTo>
                    <a:pt x="0" y="0"/>
                  </a:moveTo>
                  <a:lnTo>
                    <a:pt x="0" y="16778514"/>
                  </a:lnTo>
                  <a:lnTo>
                    <a:pt x="33090957" y="16778514"/>
                  </a:lnTo>
                  <a:lnTo>
                    <a:pt x="33090957" y="0"/>
                  </a:lnTo>
                  <a:lnTo>
                    <a:pt x="0" y="0"/>
                  </a:lnTo>
                  <a:close/>
                  <a:moveTo>
                    <a:pt x="33029999" y="16717555"/>
                  </a:moveTo>
                  <a:lnTo>
                    <a:pt x="59690" y="16717555"/>
                  </a:lnTo>
                  <a:lnTo>
                    <a:pt x="59690" y="59690"/>
                  </a:lnTo>
                  <a:lnTo>
                    <a:pt x="33029999" y="59690"/>
                  </a:lnTo>
                  <a:lnTo>
                    <a:pt x="33029999" y="1671755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2367294"/>
            <a:chOff x="0" y="0"/>
            <a:chExt cx="33090958" cy="4826440"/>
          </a:xfrm>
        </p:grpSpPr>
        <p:sp>
          <p:nvSpPr>
            <p:cNvPr name="Freeform 5" id="5"/>
            <p:cNvSpPr/>
            <p:nvPr/>
          </p:nvSpPr>
          <p:spPr>
            <a:xfrm>
              <a:off x="0" y="0"/>
              <a:ext cx="33090957" cy="4826440"/>
            </a:xfrm>
            <a:custGeom>
              <a:avLst/>
              <a:gdLst/>
              <a:ahLst/>
              <a:cxnLst/>
              <a:rect r="r" b="b" t="t" l="l"/>
              <a:pathLst>
                <a:path h="4826440" w="33090957">
                  <a:moveTo>
                    <a:pt x="0" y="0"/>
                  </a:moveTo>
                  <a:lnTo>
                    <a:pt x="0" y="4826440"/>
                  </a:lnTo>
                  <a:lnTo>
                    <a:pt x="33090957" y="4826440"/>
                  </a:lnTo>
                  <a:lnTo>
                    <a:pt x="33090957" y="0"/>
                  </a:lnTo>
                  <a:lnTo>
                    <a:pt x="0" y="0"/>
                  </a:lnTo>
                  <a:close/>
                  <a:moveTo>
                    <a:pt x="33029999" y="4765480"/>
                  </a:moveTo>
                  <a:lnTo>
                    <a:pt x="59690" y="4765480"/>
                  </a:lnTo>
                  <a:lnTo>
                    <a:pt x="59690" y="59690"/>
                  </a:lnTo>
                  <a:lnTo>
                    <a:pt x="33029999" y="59690"/>
                  </a:lnTo>
                  <a:lnTo>
                    <a:pt x="33029999" y="4765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6" id="6"/>
          <p:cNvSpPr/>
          <p:nvPr/>
        </p:nvSpPr>
        <p:spPr>
          <a:xfrm rot="0">
            <a:off x="15177151" y="1028700"/>
            <a:ext cx="2082149" cy="2367294"/>
          </a:xfrm>
          <a:prstGeom prst="rect">
            <a:avLst/>
          </a:prstGeom>
          <a:solidFill>
            <a:srgbClr val="FFFFFF"/>
          </a:solid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425" t="0" r="0" b="0"/>
          <a:stretch>
            <a:fillRect/>
          </a:stretch>
        </p:blipFill>
        <p:spPr>
          <a:xfrm flipH="false" flipV="false" rot="0">
            <a:off x="1416668" y="3705710"/>
            <a:ext cx="6292656" cy="5159544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717706" y="1902784"/>
            <a:ext cx="10010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spc="400">
                <a:solidFill>
                  <a:srgbClr val="241D27"/>
                </a:solidFill>
                <a:latin typeface="Space Mono Bold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69448" y="3205231"/>
            <a:ext cx="8549297" cy="605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66411" indent="-383205" lvl="1">
              <a:lnSpc>
                <a:spcPts val="5324"/>
              </a:lnSpc>
              <a:buFont typeface="Arial"/>
              <a:buChar char="•"/>
            </a:pPr>
            <a:r>
              <a:rPr lang="en-US" sz="3549" spc="35">
                <a:solidFill>
                  <a:srgbClr val="FFFFFF"/>
                </a:solidFill>
                <a:latin typeface="Space Mono"/>
              </a:rPr>
              <a:t>Sequence analysis</a:t>
            </a:r>
          </a:p>
          <a:p>
            <a:pPr marL="766411" indent="-383205" lvl="1">
              <a:lnSpc>
                <a:spcPts val="5324"/>
              </a:lnSpc>
              <a:buFont typeface="Arial"/>
              <a:buChar char="•"/>
            </a:pPr>
            <a:r>
              <a:rPr lang="en-US" sz="3549" spc="35">
                <a:solidFill>
                  <a:srgbClr val="FFFFFF"/>
                </a:solidFill>
                <a:latin typeface="Space Mono"/>
              </a:rPr>
              <a:t>Sequence comparison</a:t>
            </a:r>
          </a:p>
          <a:p>
            <a:pPr marL="766411" indent="-383205" lvl="1">
              <a:lnSpc>
                <a:spcPts val="5324"/>
              </a:lnSpc>
              <a:buFont typeface="Arial"/>
              <a:buChar char="•"/>
            </a:pPr>
            <a:r>
              <a:rPr lang="en-US" sz="3549" spc="35">
                <a:solidFill>
                  <a:srgbClr val="FFFFFF"/>
                </a:solidFill>
                <a:latin typeface="Space Mono"/>
              </a:rPr>
              <a:t>Structural analysis</a:t>
            </a:r>
          </a:p>
          <a:p>
            <a:pPr marL="766411" indent="-383205" lvl="1">
              <a:lnSpc>
                <a:spcPts val="5324"/>
              </a:lnSpc>
              <a:buFont typeface="Arial"/>
              <a:buChar char="•"/>
            </a:pPr>
            <a:r>
              <a:rPr lang="en-US" sz="3549" spc="35">
                <a:solidFill>
                  <a:srgbClr val="FFFFFF"/>
                </a:solidFill>
                <a:latin typeface="Space Mono"/>
              </a:rPr>
              <a:t>Finding the family and domain of a protein</a:t>
            </a:r>
          </a:p>
          <a:p>
            <a:pPr marL="766411" indent="-383205" lvl="1">
              <a:lnSpc>
                <a:spcPts val="5324"/>
              </a:lnSpc>
              <a:buFont typeface="Arial"/>
              <a:buChar char="•"/>
            </a:pPr>
            <a:r>
              <a:rPr lang="en-US" sz="3549" spc="35">
                <a:solidFill>
                  <a:srgbClr val="FFFFFF"/>
                </a:solidFill>
                <a:latin typeface="Space Mono"/>
              </a:rPr>
              <a:t>Showing 3D structures of a protein</a:t>
            </a:r>
          </a:p>
          <a:p>
            <a:pPr marL="766411" indent="-383205" lvl="1">
              <a:lnSpc>
                <a:spcPts val="5324"/>
              </a:lnSpc>
              <a:buFont typeface="Arial"/>
              <a:buChar char="•"/>
            </a:pPr>
            <a:r>
              <a:rPr lang="en-US" sz="3549" spc="35">
                <a:solidFill>
                  <a:srgbClr val="FFFFFF"/>
                </a:solidFill>
                <a:latin typeface="Space Mono"/>
              </a:rPr>
              <a:t>Nucleotide and protein sequencing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7384" y="1131434"/>
            <a:ext cx="13844129" cy="205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277"/>
              </a:lnSpc>
            </a:pPr>
            <a:r>
              <a:rPr lang="en-US" sz="5912">
                <a:solidFill>
                  <a:srgbClr val="FFFFFF"/>
                </a:solidFill>
                <a:latin typeface="Space Mono Bold"/>
              </a:rPr>
              <a:t>What can bioinformatics do for you?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33090958" cy="16778514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33090957" cy="16778514"/>
            </a:xfrm>
            <a:custGeom>
              <a:avLst/>
              <a:gdLst/>
              <a:ahLst/>
              <a:cxnLst/>
              <a:rect r="r" b="b" t="t" l="l"/>
              <a:pathLst>
                <a:path h="16778514" w="33090957">
                  <a:moveTo>
                    <a:pt x="0" y="0"/>
                  </a:moveTo>
                  <a:lnTo>
                    <a:pt x="0" y="16778514"/>
                  </a:lnTo>
                  <a:lnTo>
                    <a:pt x="33090957" y="16778514"/>
                  </a:lnTo>
                  <a:lnTo>
                    <a:pt x="33090957" y="0"/>
                  </a:lnTo>
                  <a:lnTo>
                    <a:pt x="0" y="0"/>
                  </a:lnTo>
                  <a:close/>
                  <a:moveTo>
                    <a:pt x="33029999" y="16717555"/>
                  </a:moveTo>
                  <a:lnTo>
                    <a:pt x="59690" y="16717555"/>
                  </a:lnTo>
                  <a:lnTo>
                    <a:pt x="59690" y="59690"/>
                  </a:lnTo>
                  <a:lnTo>
                    <a:pt x="33029999" y="59690"/>
                  </a:lnTo>
                  <a:lnTo>
                    <a:pt x="33029999" y="16717555"/>
                  </a:lnTo>
                  <a:close/>
                </a:path>
              </a:pathLst>
            </a:custGeom>
            <a:solidFill>
              <a:srgbClr val="241D27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1028700" y="1028700"/>
            <a:ext cx="16230600" cy="2254557"/>
          </a:xfrm>
          <a:prstGeom prst="rect">
            <a:avLst/>
          </a:prstGeom>
          <a:solidFill>
            <a:srgbClr val="241D27">
              <a:alpha val="9804"/>
            </a:srgbClr>
          </a:solid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2254557"/>
            <a:chOff x="0" y="0"/>
            <a:chExt cx="33090958" cy="4596592"/>
          </a:xfrm>
        </p:grpSpPr>
        <p:sp>
          <p:nvSpPr>
            <p:cNvPr name="Freeform 6" id="6"/>
            <p:cNvSpPr/>
            <p:nvPr/>
          </p:nvSpPr>
          <p:spPr>
            <a:xfrm>
              <a:off x="0" y="0"/>
              <a:ext cx="33090957" cy="4596592"/>
            </a:xfrm>
            <a:custGeom>
              <a:avLst/>
              <a:gdLst/>
              <a:ahLst/>
              <a:cxnLst/>
              <a:rect r="r" b="b" t="t" l="l"/>
              <a:pathLst>
                <a:path h="4596592" w="33090957">
                  <a:moveTo>
                    <a:pt x="0" y="0"/>
                  </a:moveTo>
                  <a:lnTo>
                    <a:pt x="0" y="4596592"/>
                  </a:lnTo>
                  <a:lnTo>
                    <a:pt x="33090957" y="4596592"/>
                  </a:lnTo>
                  <a:lnTo>
                    <a:pt x="33090957" y="0"/>
                  </a:lnTo>
                  <a:lnTo>
                    <a:pt x="0" y="0"/>
                  </a:lnTo>
                  <a:close/>
                  <a:moveTo>
                    <a:pt x="33029999" y="4535632"/>
                  </a:moveTo>
                  <a:lnTo>
                    <a:pt x="59690" y="4535632"/>
                  </a:lnTo>
                  <a:lnTo>
                    <a:pt x="59690" y="59690"/>
                  </a:lnTo>
                  <a:lnTo>
                    <a:pt x="33029999" y="59690"/>
                  </a:lnTo>
                  <a:lnTo>
                    <a:pt x="33029999" y="4535632"/>
                  </a:lnTo>
                  <a:close/>
                </a:path>
              </a:pathLst>
            </a:custGeom>
            <a:solidFill>
              <a:srgbClr val="241D27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34117" y="895350"/>
            <a:ext cx="16230600" cy="238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561"/>
              </a:lnSpc>
            </a:pPr>
            <a:r>
              <a:rPr lang="en-US" sz="6829">
                <a:solidFill>
                  <a:srgbClr val="000000"/>
                </a:solidFill>
                <a:latin typeface="Space Mono Bold"/>
              </a:rPr>
              <a:t>When the witch stirs the cauldron!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8518150" y="6579672"/>
            <a:ext cx="731267" cy="1211208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154823" y="4635504"/>
            <a:ext cx="4242218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620"/>
              </a:lnSpc>
            </a:pPr>
            <a:r>
              <a:rPr lang="en-US" sz="3300" spc="363">
                <a:solidFill>
                  <a:srgbClr val="241D27"/>
                </a:solidFill>
                <a:latin typeface="Space Mono"/>
              </a:rPr>
              <a:t>BIOLOGY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67224" y="7966140"/>
            <a:ext cx="4242218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620"/>
              </a:lnSpc>
            </a:pPr>
            <a:r>
              <a:rPr lang="en-US" sz="3300" spc="363">
                <a:solidFill>
                  <a:srgbClr val="241D27"/>
                </a:solidFill>
                <a:latin typeface="Space Mono"/>
              </a:rPr>
              <a:t>STATISTICS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57512" y="4132584"/>
            <a:ext cx="4242218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620"/>
              </a:lnSpc>
            </a:pPr>
            <a:r>
              <a:rPr lang="en-US" sz="3300" spc="363">
                <a:solidFill>
                  <a:srgbClr val="241D27"/>
                </a:solidFill>
                <a:latin typeface="Space Mono"/>
              </a:rPr>
              <a:t>PHYSICS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6179" y="7211760"/>
            <a:ext cx="5145214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620"/>
              </a:lnSpc>
            </a:pPr>
            <a:r>
              <a:rPr lang="en-US" sz="3300" spc="363">
                <a:solidFill>
                  <a:srgbClr val="241D27"/>
                </a:solidFill>
                <a:latin typeface="Space Mono"/>
              </a:rPr>
              <a:t>COMPUTER SCIENCE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94270" y="6960300"/>
            <a:ext cx="4242218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620"/>
              </a:lnSpc>
            </a:pPr>
            <a:r>
              <a:rPr lang="en-US" sz="3300" spc="363">
                <a:solidFill>
                  <a:srgbClr val="241D27"/>
                </a:solidFill>
                <a:latin typeface="Space Mono"/>
              </a:rPr>
              <a:t>CHEMISTRY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22648" y="3629664"/>
            <a:ext cx="4242218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620"/>
              </a:lnSpc>
            </a:pPr>
            <a:r>
              <a:rPr lang="en-US" sz="3300" spc="363">
                <a:solidFill>
                  <a:srgbClr val="241D27"/>
                </a:solidFill>
                <a:latin typeface="Space Mono"/>
              </a:rPr>
              <a:t>MATHEMATICS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97041" y="5690502"/>
            <a:ext cx="4242218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620"/>
              </a:lnSpc>
            </a:pPr>
            <a:r>
              <a:rPr lang="en-US" sz="3300" spc="363">
                <a:solidFill>
                  <a:srgbClr val="241D27"/>
                </a:solidFill>
                <a:latin typeface="Space Mono"/>
              </a:rPr>
              <a:t>BIOINFORMATICS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2277084">
            <a:off x="11378444" y="5979955"/>
            <a:ext cx="731267" cy="1211208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8368611">
            <a:off x="8152516" y="4357560"/>
            <a:ext cx="731267" cy="1211208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8806890">
            <a:off x="4579706" y="4957071"/>
            <a:ext cx="731267" cy="1211208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4925519">
            <a:off x="5506864" y="6225528"/>
            <a:ext cx="731267" cy="1211208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6174053">
            <a:off x="11119928" y="4669483"/>
            <a:ext cx="731267" cy="12112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24870" y="1028700"/>
            <a:ext cx="7634430" cy="8229600"/>
            <a:chOff x="0" y="0"/>
            <a:chExt cx="15565080" cy="16778514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15565081" cy="16778514"/>
            </a:xfrm>
            <a:custGeom>
              <a:avLst/>
              <a:gdLst/>
              <a:ahLst/>
              <a:cxnLst/>
              <a:rect r="r" b="b" t="t" l="l"/>
              <a:pathLst>
                <a:path h="16778514" w="15565081">
                  <a:moveTo>
                    <a:pt x="0" y="0"/>
                  </a:moveTo>
                  <a:lnTo>
                    <a:pt x="0" y="16778514"/>
                  </a:lnTo>
                  <a:lnTo>
                    <a:pt x="15565081" y="16778514"/>
                  </a:lnTo>
                  <a:lnTo>
                    <a:pt x="15565081" y="0"/>
                  </a:lnTo>
                  <a:lnTo>
                    <a:pt x="0" y="0"/>
                  </a:lnTo>
                  <a:close/>
                  <a:moveTo>
                    <a:pt x="15504120" y="16717555"/>
                  </a:moveTo>
                  <a:lnTo>
                    <a:pt x="59690" y="16717555"/>
                  </a:lnTo>
                  <a:lnTo>
                    <a:pt x="59690" y="59690"/>
                  </a:lnTo>
                  <a:lnTo>
                    <a:pt x="15504120" y="59690"/>
                  </a:lnTo>
                  <a:lnTo>
                    <a:pt x="15504120" y="16717555"/>
                  </a:lnTo>
                  <a:close/>
                </a:path>
              </a:pathLst>
            </a:custGeom>
            <a:solidFill>
              <a:srgbClr val="241D27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15177151" y="3395994"/>
            <a:ext cx="2082149" cy="5862306"/>
          </a:xfrm>
          <a:prstGeom prst="rect">
            <a:avLst/>
          </a:prstGeom>
          <a:solidFill>
            <a:srgbClr val="241D27">
              <a:alpha val="9804"/>
            </a:srgbClr>
          </a:solidFill>
        </p:spPr>
      </p:sp>
      <p:grpSp>
        <p:nvGrpSpPr>
          <p:cNvPr name="Group 5" id="5"/>
          <p:cNvGrpSpPr/>
          <p:nvPr/>
        </p:nvGrpSpPr>
        <p:grpSpPr>
          <a:xfrm rot="0">
            <a:off x="15177151" y="1028700"/>
            <a:ext cx="2082149" cy="8229600"/>
            <a:chOff x="0" y="0"/>
            <a:chExt cx="4245087" cy="16778514"/>
          </a:xfrm>
        </p:grpSpPr>
        <p:sp>
          <p:nvSpPr>
            <p:cNvPr name="Freeform 6" id="6"/>
            <p:cNvSpPr/>
            <p:nvPr/>
          </p:nvSpPr>
          <p:spPr>
            <a:xfrm>
              <a:off x="0" y="0"/>
              <a:ext cx="4245087" cy="16778514"/>
            </a:xfrm>
            <a:custGeom>
              <a:avLst/>
              <a:gdLst/>
              <a:ahLst/>
              <a:cxnLst/>
              <a:rect r="r" b="b" t="t" l="l"/>
              <a:pathLst>
                <a:path h="16778514" w="4245087">
                  <a:moveTo>
                    <a:pt x="0" y="0"/>
                  </a:moveTo>
                  <a:lnTo>
                    <a:pt x="0" y="16778514"/>
                  </a:lnTo>
                  <a:lnTo>
                    <a:pt x="4245087" y="16778514"/>
                  </a:lnTo>
                  <a:lnTo>
                    <a:pt x="4245087" y="0"/>
                  </a:lnTo>
                  <a:lnTo>
                    <a:pt x="0" y="0"/>
                  </a:lnTo>
                  <a:close/>
                  <a:moveTo>
                    <a:pt x="4184127" y="16717555"/>
                  </a:moveTo>
                  <a:lnTo>
                    <a:pt x="59690" y="16717555"/>
                  </a:lnTo>
                  <a:lnTo>
                    <a:pt x="59690" y="59690"/>
                  </a:lnTo>
                  <a:lnTo>
                    <a:pt x="4184127" y="59690"/>
                  </a:lnTo>
                  <a:lnTo>
                    <a:pt x="4184127" y="16717555"/>
                  </a:lnTo>
                  <a:close/>
                </a:path>
              </a:pathLst>
            </a:custGeom>
            <a:solidFill>
              <a:srgbClr val="241D27"/>
            </a:solidFill>
          </p:spPr>
        </p:sp>
      </p:grpSp>
      <p:sp>
        <p:nvSpPr>
          <p:cNvPr name="AutoShape 7" id="7"/>
          <p:cNvSpPr/>
          <p:nvPr/>
        </p:nvSpPr>
        <p:spPr>
          <a:xfrm rot="0">
            <a:off x="15177151" y="1028700"/>
            <a:ext cx="2082149" cy="2367294"/>
          </a:xfrm>
          <a:prstGeom prst="rect">
            <a:avLst/>
          </a:prstGeom>
          <a:solidFill>
            <a:srgbClr val="241D27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15717706" y="1902784"/>
            <a:ext cx="10010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spc="400">
                <a:solidFill>
                  <a:srgbClr val="FFFFFF"/>
                </a:solidFill>
                <a:latin typeface="Space Mono Bold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13919714" y="5929954"/>
            <a:ext cx="4549397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spc="144">
                <a:solidFill>
                  <a:srgbClr val="241D27"/>
                </a:solidFill>
                <a:latin typeface="Space Mono Bold"/>
              </a:rPr>
              <a:t>Data into databases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24870" y="1190625"/>
            <a:ext cx="5552280" cy="783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Open Sans Light"/>
              </a:rPr>
              <a:t>Different kinds of data are stored in a database, eg nucleotide sequences, protein sequences, organisms they are retrieved from, etc.</a:t>
            </a:r>
          </a:p>
          <a:p>
            <a:pPr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 Light"/>
              </a:rPr>
              <a:t>D</a:t>
            </a:r>
            <a:r>
              <a:rPr lang="en-US" sz="3400">
                <a:solidFill>
                  <a:srgbClr val="000000"/>
                </a:solidFill>
                <a:latin typeface="Open Sans Light"/>
              </a:rPr>
              <a:t>ata can visualized, annotated, and worked upon from a database.</a:t>
            </a:r>
          </a:p>
          <a:p>
            <a:pPr marL="734060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 Light"/>
              </a:rPr>
              <a:t>Databases are updated regularly by the founder organization.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42950" y="1028700"/>
            <a:ext cx="6418936" cy="8229600"/>
            <a:chOff x="0" y="0"/>
            <a:chExt cx="8558581" cy="109728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38100"/>
              <a:ext cx="7983980" cy="2382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610"/>
                </a:lnSpc>
              </a:pPr>
              <a:r>
                <a:rPr lang="en-US" sz="4229" spc="169">
                  <a:solidFill>
                    <a:srgbClr val="000000"/>
                  </a:solidFill>
                  <a:latin typeface="Now Bold"/>
                </a:rPr>
                <a:t>TYPES OF </a:t>
              </a:r>
              <a:r>
                <a:rPr lang="en-US" sz="4229" spc="169">
                  <a:solidFill>
                    <a:srgbClr val="000000"/>
                  </a:solidFill>
                  <a:latin typeface="Now Bold"/>
                </a:rPr>
                <a:t>BIOLOGICAL DATABASES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449508"/>
              <a:ext cx="6447594" cy="7523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marL="591708" indent="-295854" lvl="1">
                <a:lnSpc>
                  <a:spcPts val="5015"/>
                </a:lnSpc>
                <a:buFont typeface="Arial"/>
                <a:buChar char="•"/>
              </a:pPr>
              <a:r>
                <a:rPr lang="en-US" sz="2740" spc="54">
                  <a:solidFill>
                    <a:srgbClr val="000000"/>
                  </a:solidFill>
                  <a:latin typeface="Now"/>
                </a:rPr>
                <a:t>Primary Databases</a:t>
              </a:r>
            </a:p>
            <a:p>
              <a:pPr marL="591708" indent="-295854" lvl="1">
                <a:lnSpc>
                  <a:spcPts val="5015"/>
                </a:lnSpc>
                <a:buFont typeface="Arial"/>
                <a:buChar char="•"/>
              </a:pPr>
              <a:r>
                <a:rPr lang="en-US" sz="2740" spc="54">
                  <a:solidFill>
                    <a:srgbClr val="000000"/>
                  </a:solidFill>
                  <a:latin typeface="Now"/>
                </a:rPr>
                <a:t>Composite Databases</a:t>
              </a:r>
            </a:p>
            <a:p>
              <a:pPr marL="591708" indent="-295854" lvl="1">
                <a:lnSpc>
                  <a:spcPts val="5015"/>
                </a:lnSpc>
                <a:buFont typeface="Arial"/>
                <a:buChar char="•"/>
              </a:pPr>
              <a:r>
                <a:rPr lang="en-US" sz="2740" spc="54">
                  <a:solidFill>
                    <a:srgbClr val="000000"/>
                  </a:solidFill>
                  <a:latin typeface="Now"/>
                </a:rPr>
                <a:t>Literature Databases</a:t>
              </a:r>
            </a:p>
            <a:p>
              <a:pPr marL="591708" indent="-295854" lvl="1">
                <a:lnSpc>
                  <a:spcPts val="5015"/>
                </a:lnSpc>
                <a:buFont typeface="Arial"/>
                <a:buChar char="•"/>
              </a:pPr>
              <a:r>
                <a:rPr lang="en-US" sz="2740" spc="54">
                  <a:solidFill>
                    <a:srgbClr val="000000"/>
                  </a:solidFill>
                  <a:latin typeface="Now"/>
                </a:rPr>
                <a:t>Structural Databases</a:t>
              </a:r>
            </a:p>
            <a:p>
              <a:pPr marL="591708" indent="-295854" lvl="1">
                <a:lnSpc>
                  <a:spcPts val="5015"/>
                </a:lnSpc>
                <a:buFont typeface="Arial"/>
                <a:buChar char="•"/>
              </a:pPr>
              <a:r>
                <a:rPr lang="en-US" sz="2740" spc="54">
                  <a:solidFill>
                    <a:srgbClr val="000000"/>
                  </a:solidFill>
                  <a:latin typeface="Now"/>
                </a:rPr>
                <a:t>Secondary/Derived Databases</a:t>
              </a:r>
            </a:p>
            <a:p>
              <a:pPr marL="591708" indent="-295854" lvl="1">
                <a:lnSpc>
                  <a:spcPts val="5015"/>
                </a:lnSpc>
                <a:buFont typeface="Arial"/>
                <a:buChar char="•"/>
              </a:pPr>
              <a:r>
                <a:rPr lang="en-US" sz="2740" spc="54">
                  <a:solidFill>
                    <a:srgbClr val="000000"/>
                  </a:solidFill>
                  <a:latin typeface="Now"/>
                </a:rPr>
                <a:t>Protein Sequence Databases</a:t>
              </a:r>
            </a:p>
            <a:p>
              <a:pPr marL="591708" indent="-295854" lvl="1">
                <a:lnSpc>
                  <a:spcPts val="5015"/>
                </a:lnSpc>
                <a:buFont typeface="Arial"/>
                <a:buChar char="•"/>
              </a:pPr>
              <a:r>
                <a:rPr lang="en-US" sz="2740" spc="54">
                  <a:solidFill>
                    <a:srgbClr val="000000"/>
                  </a:solidFill>
                  <a:latin typeface="Now"/>
                </a:rPr>
                <a:t>Genome Databases</a:t>
              </a:r>
            </a:p>
          </p:txBody>
        </p:sp>
        <p:sp>
          <p:nvSpPr>
            <p:cNvPr name="AutoShape 14" id="14"/>
            <p:cNvSpPr/>
            <p:nvPr/>
          </p:nvSpPr>
          <p:spPr>
            <a:xfrm rot="0">
              <a:off x="41005" y="2694358"/>
              <a:ext cx="8517576" cy="24721"/>
            </a:xfrm>
            <a:prstGeom prst="rect">
              <a:avLst/>
            </a:pr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284" y="2367294"/>
            <a:ext cx="2082149" cy="7919706"/>
          </a:xfrm>
          <a:prstGeom prst="rect">
            <a:avLst/>
          </a:prstGeom>
          <a:solidFill>
            <a:srgbClr val="241D27">
              <a:alpha val="9804"/>
            </a:srgbClr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2082149" cy="10287000"/>
            <a:chOff x="0" y="0"/>
            <a:chExt cx="4245087" cy="20973143"/>
          </a:xfrm>
        </p:grpSpPr>
        <p:sp>
          <p:nvSpPr>
            <p:cNvPr name="Freeform 4" id="4"/>
            <p:cNvSpPr/>
            <p:nvPr/>
          </p:nvSpPr>
          <p:spPr>
            <a:xfrm>
              <a:off x="0" y="0"/>
              <a:ext cx="4245087" cy="20973143"/>
            </a:xfrm>
            <a:custGeom>
              <a:avLst/>
              <a:gdLst/>
              <a:ahLst/>
              <a:cxnLst/>
              <a:rect r="r" b="b" t="t" l="l"/>
              <a:pathLst>
                <a:path h="20973143" w="4245087">
                  <a:moveTo>
                    <a:pt x="0" y="0"/>
                  </a:moveTo>
                  <a:lnTo>
                    <a:pt x="0" y="20973143"/>
                  </a:lnTo>
                  <a:lnTo>
                    <a:pt x="4245087" y="20973143"/>
                  </a:lnTo>
                  <a:lnTo>
                    <a:pt x="4245087" y="0"/>
                  </a:lnTo>
                  <a:lnTo>
                    <a:pt x="0" y="0"/>
                  </a:lnTo>
                  <a:close/>
                  <a:moveTo>
                    <a:pt x="4184127" y="20912182"/>
                  </a:moveTo>
                  <a:lnTo>
                    <a:pt x="59690" y="20912182"/>
                  </a:lnTo>
                  <a:lnTo>
                    <a:pt x="59690" y="59690"/>
                  </a:lnTo>
                  <a:lnTo>
                    <a:pt x="4184127" y="59690"/>
                  </a:lnTo>
                  <a:lnTo>
                    <a:pt x="4184127" y="20912182"/>
                  </a:lnTo>
                  <a:close/>
                </a:path>
              </a:pathLst>
            </a:custGeom>
            <a:solidFill>
              <a:srgbClr val="241D27"/>
            </a:solidFill>
          </p:spPr>
        </p:sp>
      </p:grpSp>
      <p:sp>
        <p:nvSpPr>
          <p:cNvPr name="AutoShape 5" id="5"/>
          <p:cNvSpPr/>
          <p:nvPr/>
        </p:nvSpPr>
        <p:spPr>
          <a:xfrm rot="0">
            <a:off x="0" y="0"/>
            <a:ext cx="2082149" cy="2367294"/>
          </a:xfrm>
          <a:prstGeom prst="rect">
            <a:avLst/>
          </a:prstGeom>
          <a:solidFill>
            <a:srgbClr val="241D27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556364" y="874084"/>
            <a:ext cx="10010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spc="400">
                <a:solidFill>
                  <a:srgbClr val="FFFFFF"/>
                </a:solidFill>
                <a:latin typeface="Space Mono Bold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-1903954" y="6120454"/>
            <a:ext cx="5817684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spc="144">
                <a:solidFill>
                  <a:srgbClr val="241D27"/>
                </a:solidFill>
                <a:latin typeface="Space Mono Bold"/>
              </a:rPr>
              <a:t>More on databases</a:t>
            </a:r>
            <a:r>
              <a:rPr lang="en-US" sz="2400" spc="144">
                <a:solidFill>
                  <a:srgbClr val="241D27"/>
                </a:solidFill>
                <a:latin typeface="Space Mono Bold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01602" y="514115"/>
            <a:ext cx="15764850" cy="986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51291" indent="-375646" lvl="1">
              <a:lnSpc>
                <a:spcPts val="4871"/>
              </a:lnSpc>
              <a:buFont typeface="Arial"/>
              <a:buChar char="•"/>
            </a:pPr>
            <a:r>
              <a:rPr lang="en-US" sz="3479">
                <a:solidFill>
                  <a:srgbClr val="000000"/>
                </a:solidFill>
                <a:latin typeface="Open Sans Light"/>
              </a:rPr>
              <a:t>Primary Databases - Nucleotide sequence databases, eg: GenBank, DDBJ, EMBL</a:t>
            </a:r>
          </a:p>
          <a:p>
            <a:pPr marL="751291" indent="-375646" lvl="1">
              <a:lnSpc>
                <a:spcPts val="4871"/>
              </a:lnSpc>
              <a:buFont typeface="Arial"/>
              <a:buChar char="•"/>
            </a:pPr>
            <a:r>
              <a:rPr lang="en-US" sz="1228">
                <a:solidFill>
                  <a:srgbClr val="000000"/>
                </a:solidFill>
                <a:latin typeface="Arimo"/>
              </a:rPr>
              <a:t>Composite Databases - Composite databases have been created to simplify the sequence search for a query in a single compilation in the context of the many different primary database searches, by merging a variety of different primary resources. These databases are non-redundant and render sequence searching, eg: OWL</a:t>
            </a:r>
          </a:p>
          <a:p>
            <a:pPr marL="751291" indent="-375646" lvl="1">
              <a:lnSpc>
                <a:spcPts val="4871"/>
              </a:lnSpc>
              <a:buFont typeface="Arial"/>
              <a:buChar char="•"/>
            </a:pPr>
            <a:r>
              <a:rPr lang="en-US" sz="1228">
                <a:solidFill>
                  <a:srgbClr val="000000"/>
                </a:solidFill>
                <a:latin typeface="Arimo"/>
              </a:rPr>
              <a:t>Literature Databases - Various publications can be found here, eg: PLoS, Biomed Central, PubMed</a:t>
            </a:r>
          </a:p>
          <a:p>
            <a:pPr marL="751291" indent="-375646" lvl="1">
              <a:lnSpc>
                <a:spcPts val="4871"/>
              </a:lnSpc>
              <a:buFont typeface="Arial"/>
              <a:buChar char="•"/>
            </a:pPr>
            <a:r>
              <a:rPr lang="en-US" sz="1228">
                <a:solidFill>
                  <a:srgbClr val="000000"/>
                </a:solidFill>
                <a:latin typeface="Arimo"/>
              </a:rPr>
              <a:t>Structural Databases - Protein structure databases, eg: PDB</a:t>
            </a:r>
          </a:p>
          <a:p>
            <a:pPr marL="751291" indent="-375646" lvl="1">
              <a:lnSpc>
                <a:spcPts val="4871"/>
              </a:lnSpc>
              <a:buFont typeface="Arial"/>
              <a:buChar char="•"/>
            </a:pPr>
            <a:r>
              <a:rPr lang="en-US" sz="1228">
                <a:solidFill>
                  <a:srgbClr val="000000"/>
                </a:solidFill>
                <a:latin typeface="Arimo"/>
              </a:rPr>
              <a:t>Secondary/Derived Databases - Contains information from the primary databases along with some specific data, eg: SWISS-PROT, PIR</a:t>
            </a:r>
          </a:p>
          <a:p>
            <a:pPr marL="751291" indent="-375646" lvl="1">
              <a:lnSpc>
                <a:spcPts val="4871"/>
              </a:lnSpc>
              <a:buFont typeface="Arial"/>
              <a:buChar char="•"/>
            </a:pPr>
            <a:r>
              <a:rPr lang="en-US" sz="1228">
                <a:solidFill>
                  <a:srgbClr val="000000"/>
                </a:solidFill>
                <a:latin typeface="Arimo"/>
              </a:rPr>
              <a:t>Protein Sequence Databases - Contains protein sequences, eg: Uni-Prot</a:t>
            </a:r>
          </a:p>
          <a:p>
            <a:pPr marL="751291" indent="-375646" lvl="1">
              <a:lnSpc>
                <a:spcPts val="4871"/>
              </a:lnSpc>
              <a:buFont typeface="Arial"/>
              <a:buChar char="•"/>
            </a:pPr>
            <a:r>
              <a:rPr lang="en-US" sz="1228">
                <a:solidFill>
                  <a:srgbClr val="000000"/>
                </a:solidFill>
                <a:latin typeface="Arimo"/>
              </a:rPr>
              <a:t>Genome Databases - Contains genomic sequences of various organisms, eg: ICTV, MBGD</a:t>
            </a:r>
          </a:p>
          <a:p>
            <a:pPr algn="ctr">
              <a:lnSpc>
                <a:spcPts val="4871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DAEaaHWpiiY</dc:identifier>
  <dcterms:modified xsi:type="dcterms:W3CDTF">2011-08-01T06:04:30Z</dcterms:modified>
  <cp:revision>1</cp:revision>
  <dc:title>Bioinformatics</dc:title>
</cp:coreProperties>
</file>